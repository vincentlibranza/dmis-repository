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821B32-0FA0-8A4D-ECBB-5995F1328AC7}" v="23" dt="2026-06-19T16:21:56.2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7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cent Jon V. Libranza" userId="S::vjlibranza@mcm.edu.ph::210b9fdd-7038-4323-bc0f-ca097607f17b" providerId="AD" clId="Web-{8F821B32-0FA0-8A4D-ECBB-5995F1328AC7}"/>
    <pc:docChg chg="modSld">
      <pc:chgData name="Vincent Jon V. Libranza" userId="S::vjlibranza@mcm.edu.ph::210b9fdd-7038-4323-bc0f-ca097607f17b" providerId="AD" clId="Web-{8F821B32-0FA0-8A4D-ECBB-5995F1328AC7}" dt="2026-06-19T16:21:56.278" v="22" actId="20577"/>
      <pc:docMkLst>
        <pc:docMk/>
      </pc:docMkLst>
      <pc:sldChg chg="delSp">
        <pc:chgData name="Vincent Jon V. Libranza" userId="S::vjlibranza@mcm.edu.ph::210b9fdd-7038-4323-bc0f-ca097607f17b" providerId="AD" clId="Web-{8F821B32-0FA0-8A4D-ECBB-5995F1328AC7}" dt="2026-06-19T16:21:15.714" v="1"/>
        <pc:sldMkLst>
          <pc:docMk/>
          <pc:sldMk cId="0" sldId="266"/>
        </pc:sldMkLst>
        <pc:picChg chg="del">
          <ac:chgData name="Vincent Jon V. Libranza" userId="S::vjlibranza@mcm.edu.ph::210b9fdd-7038-4323-bc0f-ca097607f17b" providerId="AD" clId="Web-{8F821B32-0FA0-8A4D-ECBB-5995F1328AC7}" dt="2026-06-19T16:21:15.011" v="0"/>
          <ac:picMkLst>
            <pc:docMk/>
            <pc:sldMk cId="0" sldId="266"/>
            <ac:picMk id="5" creationId="{3DF1C555-FD9C-FCC4-0094-B5FB41C2BA3B}"/>
          </ac:picMkLst>
        </pc:picChg>
        <pc:picChg chg="del">
          <ac:chgData name="Vincent Jon V. Libranza" userId="S::vjlibranza@mcm.edu.ph::210b9fdd-7038-4323-bc0f-ca097607f17b" providerId="AD" clId="Web-{8F821B32-0FA0-8A4D-ECBB-5995F1328AC7}" dt="2026-06-19T16:21:15.714" v="1"/>
          <ac:picMkLst>
            <pc:docMk/>
            <pc:sldMk cId="0" sldId="266"/>
            <ac:picMk id="7" creationId="{EE052225-E3BF-A331-226A-5E5E15937E5F}"/>
          </ac:picMkLst>
        </pc:picChg>
      </pc:sldChg>
      <pc:sldChg chg="modSp">
        <pc:chgData name="Vincent Jon V. Libranza" userId="S::vjlibranza@mcm.edu.ph::210b9fdd-7038-4323-bc0f-ca097607f17b" providerId="AD" clId="Web-{8F821B32-0FA0-8A4D-ECBB-5995F1328AC7}" dt="2026-06-19T16:21:56.278" v="22" actId="20577"/>
        <pc:sldMkLst>
          <pc:docMk/>
          <pc:sldMk cId="0" sldId="278"/>
        </pc:sldMkLst>
        <pc:spChg chg="mod">
          <ac:chgData name="Vincent Jon V. Libranza" userId="S::vjlibranza@mcm.edu.ph::210b9fdd-7038-4323-bc0f-ca097607f17b" providerId="AD" clId="Web-{8F821B32-0FA0-8A4D-ECBB-5995F1328AC7}" dt="2026-06-19T16:21:56.278" v="22" actId="20577"/>
          <ac:spMkLst>
            <pc:docMk/>
            <pc:sldMk cId="0" sldId="278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679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950797"/>
            <a:ext cx="7182197" cy="323096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5851" y="1058711"/>
            <a:ext cx="6972300" cy="30260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851910" y="950798"/>
            <a:ext cx="144018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937635" y="950798"/>
            <a:ext cx="1268730" cy="483971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1568447"/>
            <a:ext cx="6801440" cy="19431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5400" b="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3511547"/>
            <a:ext cx="6803136" cy="3429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200" spc="6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200"/>
            </a:lvl2pPr>
            <a:lvl3pPr marL="685800" indent="0" algn="ctr">
              <a:buNone/>
              <a:defRPr sz="12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89070" y="1005942"/>
            <a:ext cx="1165860" cy="395410"/>
          </a:xfrm>
        </p:spPr>
        <p:txBody>
          <a:bodyPr/>
          <a:lstStyle>
            <a:lvl1pPr algn="ctr">
              <a:defRPr sz="975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090422" y="3908295"/>
            <a:ext cx="4429125" cy="17145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3909060"/>
            <a:ext cx="1583911" cy="1714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3263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45861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950797"/>
            <a:ext cx="7182197" cy="323096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5850" y="1058711"/>
            <a:ext cx="6972300" cy="30260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851910" y="950798"/>
            <a:ext cx="144018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937635" y="950798"/>
            <a:ext cx="1268730" cy="483971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1570732"/>
            <a:ext cx="6803136" cy="1940814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540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3511547"/>
            <a:ext cx="6803136" cy="34290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effectLst/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91356" y="1008377"/>
            <a:ext cx="1165860" cy="397764"/>
          </a:xfrm>
        </p:spPr>
        <p:txBody>
          <a:bodyPr/>
          <a:lstStyle>
            <a:lvl1pPr algn="ctr">
              <a:defRPr lang="en-US" sz="975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90165" y="3908295"/>
            <a:ext cx="4430268" cy="17145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3908295"/>
            <a:ext cx="1584198" cy="17145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9139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0100" y="1577340"/>
            <a:ext cx="3566160" cy="281178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7740" y="1577340"/>
            <a:ext cx="3566160" cy="281178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03464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55751"/>
            <a:ext cx="3566160" cy="4800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425" b="0">
                <a:solidFill>
                  <a:schemeClr val="tx2"/>
                </a:solidFill>
                <a:latin typeface="+mn-lt"/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066924"/>
            <a:ext cx="3566160" cy="24003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0026" y="1555751"/>
            <a:ext cx="3566160" cy="4800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425" b="0">
                <a:solidFill>
                  <a:schemeClr val="tx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80026" y="2067436"/>
            <a:ext cx="3566160" cy="24003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8511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41289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122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8308"/>
            <a:ext cx="6398514" cy="4786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8308"/>
            <a:ext cx="2194560" cy="4786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455544"/>
            <a:ext cx="1823085" cy="1234440"/>
          </a:xfrm>
        </p:spPr>
        <p:txBody>
          <a:bodyPr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1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457200"/>
            <a:ext cx="5829300" cy="40005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1714500"/>
            <a:ext cx="1823085" cy="26289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4667252"/>
            <a:ext cx="1097280" cy="20574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868160" y="281178"/>
            <a:ext cx="1988820" cy="4581144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0777313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8308"/>
            <a:ext cx="2194560" cy="4786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452628"/>
            <a:ext cx="1824228" cy="1234440"/>
          </a:xfrm>
        </p:spPr>
        <p:txBody>
          <a:bodyPr anchor="b">
            <a:noAutofit/>
          </a:bodyPr>
          <a:lstStyle>
            <a:lvl1pPr algn="l">
              <a:defRPr sz="21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8308"/>
            <a:ext cx="6398514" cy="4786884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1714500"/>
            <a:ext cx="1824228" cy="262661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600"/>
              </a:spcBef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685800" rtl="0" eaLnBrk="1" latinLnBrk="0" hangingPunct="1">
              <a:defRPr lang="en-US" sz="75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4670298"/>
            <a:ext cx="1097280" cy="20574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868160" y="281178"/>
            <a:ext cx="1988820" cy="4581144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5224858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78566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571500"/>
            <a:ext cx="1771650" cy="39433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571500"/>
            <a:ext cx="6057900" cy="39433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2969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7545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8308"/>
            <a:ext cx="8791956" cy="4786884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PH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0100" y="481946"/>
            <a:ext cx="7543800" cy="1028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577340"/>
            <a:ext cx="7543800" cy="294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5740" y="4730754"/>
            <a:ext cx="205740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17470" y="4730754"/>
            <a:ext cx="390906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52410" y="4730754"/>
            <a:ext cx="109728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170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36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37160" indent="-137160" algn="l" defTabSz="685800" rtl="0" eaLnBrk="1" latinLnBrk="0" hangingPunct="1">
        <a:lnSpc>
          <a:spcPct val="100000"/>
        </a:lnSpc>
        <a:spcBef>
          <a:spcPts val="675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73567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PITCH DECK for SAD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578947"/>
            <a:ext cx="8229600" cy="758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b="1" i="1" dirty="0">
              <a:solidFill>
                <a:srgbClr val="11111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ctr">
              <a:buNone/>
            </a:pPr>
            <a:r>
              <a:rPr lang="en-US" sz="1800" b="1" i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Integrated Business Management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i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 System for Drabbit Marketing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Drabbit Marketing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Zian Wayne G. Matunding  •  Vincent Jon V. Libranza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CS103/L  •  CHERRY LISONDRA</a:t>
            </a:r>
            <a:endParaRPr lang="en-US" sz="13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BA55E8-483D-7F3E-3431-F864E3C47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30" y="524087"/>
            <a:ext cx="2630593" cy="26305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 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6651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I: Analysis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II: Design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III: Development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IV: Testing &amp; Results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ORGANIZATION BACKGROUND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36418"/>
            <a:ext cx="8412480" cy="3670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Profile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Drabbit Marketing is a sole proprietorship at Plainview Village KM.10 Sasa, Davao City, engaged in distribution and supply of plastic bags, trash bags, containers, cling wrap, aluminum foil, and related packaging products.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become a leading packaging supply business in Davao City by leveraging technology-driven operations that ensure accurate, efficient, and transparent service delivery.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provide quality packaging products while continuously improving operational efficiency through digital tools that automate order management, inventory tracking, invoicing, and customer service processes.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Products/Services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Plastic bags, trash bags, containers, cling wrap, aluminum foil, packaging products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Users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Retail and commercial customers throughout the Davao region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ENVIRONMENT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327571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Industry Overview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Drabbit Marketing operates in the local packaging and household supply distribution sector in Davao City.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Single-location sole proprietorship with the proprietor as primary decision-maker.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Challenges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received through phone calls or in-person visits only; no digital ordering channel.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 tracked through manual physical stock counts.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Invoices and receipts prepared by hand, causing delays in billing.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Existing ICT Infrastructure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desktop computer (Windows) + one mobile phone for communication only.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broadband internet connection. No enterprise software, accounting system, or POS.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SYSTEM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47403" y="790301"/>
            <a:ext cx="8249194" cy="24623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Workflow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received via phone/walk-in; manually recorded on paper.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 levels checked by manual physical stock counts.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Invoices manually prepared and delivered in person or via messenger.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Deliveries coordinated manually with no formal audit trail.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Existing Documents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Handwritten order records, physical customer files, manual logbooks.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Pain Points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errors and missed deliveries from pen-and-paper recording.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of stock shortages or overstock due to lack of real-time inventory.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centralized system; data loss risk from misplaced physical files.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SYSTEM DIAGRAM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8B3D8D-3655-CFAA-B7E8-A0B9E2817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6051" y="845820"/>
            <a:ext cx="4301138" cy="38755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 – </a:t>
            </a: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Manual order recording causes frequent errors and missed deliveries.</a:t>
            </a:r>
            <a:endParaRPr lang="en-US" sz="1300" dirty="0"/>
          </a:p>
          <a:p>
            <a:pPr marL="0" indent="0">
              <a:buNone/>
            </a:pPr>
            <a:endParaRPr lang="en-US" sz="1300" b="1" dirty="0">
              <a:solidFill>
                <a:srgbClr val="1A5276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 – </a:t>
            </a: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centralized database for customer information and order history.</a:t>
            </a:r>
            <a:endParaRPr lang="en-US" sz="1300" dirty="0"/>
          </a:p>
          <a:p>
            <a:pPr marL="0" indent="0">
              <a:buNone/>
            </a:pPr>
            <a:endParaRPr lang="en-US" sz="1300" b="1" dirty="0">
              <a:solidFill>
                <a:srgbClr val="1A5276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Economics – </a:t>
            </a: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Delayed invoicing slows revenue collection; high manual labor costs.</a:t>
            </a:r>
            <a:endParaRPr lang="en-US" sz="1300" dirty="0"/>
          </a:p>
          <a:p>
            <a:pPr marL="0" indent="0">
              <a:buNone/>
            </a:pPr>
            <a:endParaRPr lang="en-US" sz="1300" b="1" dirty="0">
              <a:solidFill>
                <a:srgbClr val="1A5276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– </a:t>
            </a: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audit trail for transactions; difficulty detecting delivery discrepancies.</a:t>
            </a:r>
            <a:endParaRPr lang="en-US" sz="1300" dirty="0"/>
          </a:p>
          <a:p>
            <a:pPr marL="0" indent="0">
              <a:buNone/>
            </a:pPr>
            <a:endParaRPr lang="en-US" sz="1300" b="1" dirty="0">
              <a:solidFill>
                <a:srgbClr val="1A5276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Efficiency – </a:t>
            </a: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Repetitive manual tasks consume majority of daily working hours.</a:t>
            </a:r>
            <a:endParaRPr lang="en-US" sz="1300" dirty="0"/>
          </a:p>
          <a:p>
            <a:pPr marL="0" indent="0">
              <a:buNone/>
            </a:pPr>
            <a:endParaRPr lang="en-US" sz="1300" b="1" dirty="0">
              <a:solidFill>
                <a:srgbClr val="1A5276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– </a:t>
            </a: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order status visibility; complaints handled informally with no documentation.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 SUCCESS FACTORS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66651"/>
            <a:ext cx="8412480" cy="3004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Accurate Order Management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Elimination of manual order errors through a digital order entry and tracking module.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Real-Time Inventory Visibility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 live inventory dashboard ensuring stock levels are always current and visible.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Automated Invoicing and Billing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System-generated invoices reducing delays in revenue collection and improving cash flow.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Customer Data Integrity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 centralized digital customer database protecting contact details and transaction history.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Audit Trail and Control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Complete transaction logging enabling the proprietor to detect and resolve discrepancies.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22959"/>
            <a:ext cx="8340634" cy="2553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General Objective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develop a web-based business management application that automates core operational workflows of Drabbit Marketing, including order management, inventory monitoring, invoice generation, customer records, sales reporting, delivery tracking, and complaints handling.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Specific Objectives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 a web-based order management module to eliminate manual pen-and-paper recording.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 a real-time inventory dashboard with automated low-stock alerts.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Automate invoice generation upon order confirmation to reduce billing delays.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a centralized customer database to prevent data loss from physical file misplacement.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FEASIBLE ALTERNATIVES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16428"/>
            <a:ext cx="8412480" cy="22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Alternative 1: Spreadsheet-Based System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 orders, inventory, and invoices through Excel/Google Sheets formulas and manually maintained tables.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Alternative 2: Off-the-Shelf Accounting Software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commercial platforms (e.g., QuickBooks, Wave) offering ready-made modules for invoicing, basic inventory, and customer records.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Alternative 3: Custom Web-Based Information System (Proposed)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custom-built web application developed specifically for Drabbit Marketing's workflows — tailored to order management, inventory, invoicing, reporting, and complaint handling needs without unnecessary features.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FEASIBILITY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11926"/>
            <a:ext cx="8353697" cy="2658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Technical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Uses React, TypeScript, Node.js/Express, Turso (LibSQL), and Vercel — mature, widely-supported technologies that require only a browser and internet connection.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Operational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Designed around the proprietor's daily workflow. Proprietor confirmed willingness to use a web-based system accessible via desktop and mobile phone.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Economic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Higher Year 1 investment (Php 74,900) but recurring costs of only Php 21,900 from Year 2. ROI expected within 18–24 months.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Schedule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Estimated 4–6 months for full development, testing, training, and deployment. Feasible within the academic term.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87383" y="868680"/>
            <a:ext cx="8490857" cy="2161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Name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Integrated Business Management Information System for Drabbit Marketing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custom web-based application designed to streamline Drabbit Marketing's core operations through digital order management, real-time inventory monitoring, automated invoicing, and centralized customer records.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Proposition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Eliminates manual, paper-based processes that cause order errors, billing delays, inventory stockouts, and data loss — providing the proprietor with a reliable, integrated platform for day-to-day business management.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FUNCTIONAL REQUIREMENTS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42158"/>
            <a:ext cx="8510451" cy="32591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FR-01: User Authentication – Secure login with role-based access control.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FR-02: User Management – Create, update, deactivate accounts; assign Proprietor/Staff roles.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FR-03: Order Management – Create, track, update customer orders with auto-generated reference numbers.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FR-04: Inventory Monitoring – Real-time inventory levels with auto-update upon order fulfillment.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FR-05: Low Stock Alerts – Automated alerts when product stock falls below minimum threshold.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FR-06: Customer Database – Digital profiles with contact, address, order history, and transaction records.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FR-07: Invoice Generation – Auto-generated invoices upon order confirmation with payment status tracking.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FR-08: Sales Dashboard – Reports on sales trends, top products, and revenue over selected periods.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FR-09: Report Exporting – Export reports in PDF or spreadsheet format.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FR-10: Audit Trail – Full transaction logging with timestamps and user IDs.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CASE DIAGRAM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4356463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>
              <a:solidFill>
                <a:srgbClr val="777777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Actors: Proprietor/Administrator (primary)  •  Staff (secondary)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64AB08-0DCC-E00E-0BB1-8CA30E423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984" y="868680"/>
            <a:ext cx="5496032" cy="36039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1F0F1A-BB26-B90E-E120-8658DBAFF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548" y="982516"/>
            <a:ext cx="4160903" cy="317846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85799"/>
            <a:ext cx="8307977" cy="2527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Entities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– Account and authentication info (UserID, Username, Password, Role, Status)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– Contact details, delivery address, transaction history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– Name, category, unit price, stock quantity, minimum threshold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/ ORDER_ITEM – Reference number, status, date, quantities, prices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 – Date, total amount, payment status (Unpaid / Partial / Paid)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 – Scheduled date, actual date, status (Pending / In Transit / Delivered)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COMPLAINT – Description, status (Open / In Progress / Resolved), resolution notes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AUDIT_LOG – Action, timestamp, affected table reference</a:t>
            </a:r>
            <a:endParaRPr lang="en-US" sz="15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93F247-DDBC-69BA-E9ED-943D954B7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3463" y="3213462"/>
            <a:ext cx="2997336" cy="18082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93914" y="814796"/>
            <a:ext cx="8412480" cy="2366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19 + TypeScript 5.x  •  Tailwind CSS 4.x  •  Recharts (data visualization)  •  jsPDF (invoice/report export)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Node.js + Express – API routes, business logic, database connections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Turso Authentication – Secure login and session management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Turso (LibSQL) – Edge-compatible SQL database for all relational data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Tooling &amp; Hosting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 6.x (build)  •  Git + GitHub (version control)  •  Cursor/VS Code (IDE)  •  Vercel (cloud deployment)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INTERFACE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78812" y="45948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 Reports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A27FF7-5386-FC7F-4672-FF21615E6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594" y="702524"/>
            <a:ext cx="2676032" cy="18307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CBE19D-D9DE-2BB1-D862-4A2C07EF7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866" y="702524"/>
            <a:ext cx="3298372" cy="18513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D13C4B-5DAA-46D7-C346-9562FD79C89A}"/>
              </a:ext>
            </a:extLst>
          </p:cNvPr>
          <p:cNvSpPr txBox="1"/>
          <p:nvPr/>
        </p:nvSpPr>
        <p:spPr>
          <a:xfrm>
            <a:off x="707927" y="2497434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</a:t>
            </a:r>
            <a:endParaRPr lang="en-PH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6BC1B8-3847-C4A1-EEBB-FCB639821FDB}"/>
              </a:ext>
            </a:extLst>
          </p:cNvPr>
          <p:cNvSpPr txBox="1"/>
          <p:nvPr/>
        </p:nvSpPr>
        <p:spPr>
          <a:xfrm>
            <a:off x="4048238" y="2471058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Entry </a:t>
            </a:r>
            <a:endParaRPr lang="en-PH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2FD3B9E-32CA-8B2C-4B6A-CB2301E6B8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594" y="2711219"/>
            <a:ext cx="2676032" cy="195222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28CAC45-12E5-D44D-9D7D-DE74D81E3231}"/>
              </a:ext>
            </a:extLst>
          </p:cNvPr>
          <p:cNvSpPr txBox="1"/>
          <p:nvPr/>
        </p:nvSpPr>
        <p:spPr>
          <a:xfrm>
            <a:off x="707927" y="4572767"/>
            <a:ext cx="11665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</a:t>
            </a:r>
            <a:endParaRPr lang="en-PH" sz="1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E82101A-30F1-01B9-B8F0-C73180A2C6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7243" y="1837466"/>
            <a:ext cx="2160997" cy="159693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43AC7F4-B8A1-7955-889A-ED5267491E05}"/>
              </a:ext>
            </a:extLst>
          </p:cNvPr>
          <p:cNvSpPr txBox="1"/>
          <p:nvPr/>
        </p:nvSpPr>
        <p:spPr>
          <a:xfrm>
            <a:off x="7169875" y="3445677"/>
            <a:ext cx="9262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</a:t>
            </a:r>
            <a:endParaRPr lang="en-PH" sz="12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3D6D19E-1901-5566-8CF5-EE0D8ED6E6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8577" y="2748057"/>
            <a:ext cx="2816715" cy="182626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DEVELOPMENT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22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Development Methodology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Agile Scrum – Sprint-Based Development across 4 phases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 Developed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Authentication and Access Control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Management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 Monitoring and Low Stock Alerts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 Generation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Database Management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 Dashboard and Reporting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 Tracking and Complaints Management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Trail and Automated Backup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FEATURES DEMO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68933" y="4145155"/>
            <a:ext cx="167204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Auto Invoice</a:t>
            </a:r>
            <a:endParaRPr lang="en-US" sz="1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0F99F8-10CB-542C-5CB6-B09D8AB33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178" y="298532"/>
            <a:ext cx="3085148" cy="39020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17D5C5F-2EA9-08D4-DDFB-6CC4FCFD93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323" y="2479117"/>
            <a:ext cx="4296290" cy="18304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F92DA4F-B616-9ECA-3BAC-32465324D240}"/>
              </a:ext>
            </a:extLst>
          </p:cNvPr>
          <p:cNvSpPr txBox="1"/>
          <p:nvPr/>
        </p:nvSpPr>
        <p:spPr>
          <a:xfrm>
            <a:off x="1596933" y="2315060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Management </a:t>
            </a:r>
            <a:endParaRPr lang="en-PH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11CA82-8611-2E1E-273E-C680E32EF292}"/>
              </a:ext>
            </a:extLst>
          </p:cNvPr>
          <p:cNvSpPr txBox="1"/>
          <p:nvPr/>
        </p:nvSpPr>
        <p:spPr>
          <a:xfrm>
            <a:off x="1546500" y="4293850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Real-Time Inventory </a:t>
            </a:r>
            <a:endParaRPr lang="en-PH" sz="1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DB35805-5F70-ABEB-1050-817CDCBFD9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684" y="694409"/>
            <a:ext cx="3483567" cy="164620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 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366760" cy="22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 Procedures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Functional Testing – Verified each module against defined functional requirements.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Integration Testing – Confirmed modules interact correctly as a unified system.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Acceptance Testing (UAT) – Evaluated by proprietor and staff for functionality, usability, and accuracy.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Parallel Testing – System results cross-validated against existing manual process outputs.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 Environment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Desktop Computer (Windows)  •  Active Broadband Internet  •  Vercel-Hosted System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CASES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[Test Cases Table Placeholder]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43891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functional modules tested across authentication, orders, inventory, invoicing, reporting, delivery, complaints, and audit trail.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B8FC09-C898-248E-6B1A-56FF00F39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44" y="1096973"/>
            <a:ext cx="2717074" cy="3232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3ED58F5-BE85-706D-C2AA-20A383E5DA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3018" y="1065604"/>
            <a:ext cx="3206931" cy="32320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3A14FA-20FE-DD1A-BCA8-81ED3E1814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949" y="1080695"/>
            <a:ext cx="2847703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ACCEPTANCE TESTING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157754" cy="197902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Respondents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/>
                <a:cs typeface="Courier New"/>
              </a:rPr>
              <a:t>Representatives of </a:t>
            </a:r>
            <a:r>
              <a:rPr lang="en-US" sz="1300" dirty="0" err="1">
                <a:solidFill>
                  <a:srgbClr val="222222"/>
                </a:solidFill>
                <a:latin typeface="Courier New"/>
                <a:cs typeface="Courier New"/>
              </a:rPr>
              <a:t>Drabbit</a:t>
            </a:r>
            <a:r>
              <a:rPr lang="en-US" sz="1300" dirty="0">
                <a:solidFill>
                  <a:srgbClr val="222222"/>
                </a:solidFill>
                <a:latin typeface="Courier New"/>
                <a:cs typeface="Courier New"/>
              </a:rPr>
              <a:t> Marketing 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 Instrument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/>
                <a:ea typeface="Courier New" pitchFamily="34" charset="-122"/>
                <a:cs typeface="Courier New"/>
              </a:rPr>
              <a:t>UAT form evaluating functionality, usability, data integrity, and suitability of the </a:t>
            </a:r>
            <a:r>
              <a:rPr lang="en-US" sz="1300" dirty="0" err="1">
                <a:solidFill>
                  <a:srgbClr val="222222"/>
                </a:solidFill>
                <a:latin typeface="Courier New"/>
                <a:ea typeface="Courier New" pitchFamily="34" charset="-122"/>
                <a:cs typeface="Courier New"/>
              </a:rPr>
              <a:t>Drabbit</a:t>
            </a:r>
            <a:r>
              <a:rPr lang="en-US" sz="1300" dirty="0">
                <a:solidFill>
                  <a:srgbClr val="222222"/>
                </a:solidFill>
                <a:latin typeface="Courier New"/>
                <a:ea typeface="Courier New" pitchFamily="34" charset="-122"/>
                <a:cs typeface="Courier New"/>
              </a:rPr>
              <a:t> Marketing Information System.</a:t>
            </a:r>
            <a:endParaRPr lang="en-US" sz="1500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 Dates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June 13–16, 2026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UAT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269173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[UAT Results Table Placeholder]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4581043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test cases — covering authentication, orders, inventory, invoicing, reporting, delivery, complaints, and backup — returned PASSED</a:t>
            </a: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6A72BA-6B81-657C-5C24-574FD3276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652795"/>
            <a:ext cx="2710240" cy="12384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4B6E79-BE67-6A8F-3AF8-257751A76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875237"/>
            <a:ext cx="2710239" cy="27954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5DDFBB-FE59-D6AB-EFD1-DCC39B7AA3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0319" y="652795"/>
            <a:ext cx="2496703" cy="3216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FA3CF0-B610-6C9B-1402-C7FD19E415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7022" y="641172"/>
            <a:ext cx="2496703" cy="32395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F5CCD52-F2B3-0560-6263-6F76E4FEE1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7022" y="3892355"/>
            <a:ext cx="2496704" cy="47929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61257" y="790302"/>
            <a:ext cx="8412480" cy="20182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Major Findings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Drabbit Marketing's manual processes resulted in order errors, inventory stockouts, billing delays, and data loss risk due to sole reliance on pen-and-paper record-keeping and informal coordination.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Major Achievements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Drabbit Marketing Information System successfully digitized and automated all core business operations — providing real-time inventory, digital order management, auto-invoicing, centralized customer records, delivery tracking, complaints handling, and full audit trail capabilities.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54726" y="692331"/>
            <a:ext cx="8151223" cy="2475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 1: Develop a web-based order management module.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Conclusion: Achieved through the digital order entry module with auto-generated reference numbers and status tracking.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 2: Implement real-time inventory with low-stock alerts.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Conclusion: Achieved through the live inventory dashboard with automated threshold-based notifications.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 3: Automate invoice generation.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Conclusion: Achieved through system-generated invoices upon order confirmation with payment status tracking.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 4: Build a centralized customer database.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Conclusion: Achieved through secure digital customer profiles with full transaction history.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15537" y="868680"/>
            <a:ext cx="8138160" cy="2366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 a supplier management and procurement module with purchase order generation.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Integrate SMS and email notification services for order status, delivery, and low-stock alerts.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advanced sales forecasting, demand prediction, and inventory trend analysis features.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Incorporate barcode or QR code scanning for faster inventory monitoring.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 to support multi-branch operations with centralized management.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Integrate accounting systems and develop a mobile application for improved accessibility.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6BBC33-3303-E103-91F4-70CF65BEFFAE}"/>
              </a:ext>
            </a:extLst>
          </p:cNvPr>
          <p:cNvSpPr txBox="1"/>
          <p:nvPr/>
        </p:nvSpPr>
        <p:spPr>
          <a:xfrm>
            <a:off x="2821576" y="1895453"/>
            <a:ext cx="45720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YOU!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4468832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34</TotalTime>
  <Words>1859</Words>
  <Application>Microsoft Office PowerPoint</Application>
  <PresentationFormat>On-screen Show (16:9)</PresentationFormat>
  <Paragraphs>230</Paragraphs>
  <Slides>28</Slides>
  <Notes>27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Drabbit Marketing Information System - Pitch Deck</dc:title>
  <dc:subject>PptxGenJS Presentation</dc:subject>
  <dc:creator>PptxGenJS</dc:creator>
  <cp:lastModifiedBy>Vincent Jon V. Libranza</cp:lastModifiedBy>
  <cp:revision>10</cp:revision>
  <dcterms:created xsi:type="dcterms:W3CDTF">2026-06-18T18:23:24Z</dcterms:created>
  <dcterms:modified xsi:type="dcterms:W3CDTF">2026-06-19T16:22:06Z</dcterms:modified>
</cp:coreProperties>
</file>